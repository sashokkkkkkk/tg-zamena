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274320"/>
            <a:ext cx="2011680" cy="20116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IT EQUIPMENT  ·  RUSSIAN MARKET BRIEFING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9875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Server &amp; Storage Infrastructure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Russian Market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947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Compliant, locally supported hardware for enterprises navigating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Russia's import-substitution requirements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55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Presentation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Russian Server &amp; Storage Market Is Growing Fast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demand for compliant hardware accelerated sharply in 2025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1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74520"/>
            <a:ext cx="352044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945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₽280B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632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&amp; storage market size in 2025 (incl. VAT)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850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from ₽155B in 2024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8745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1B5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874520"/>
            <a:ext cx="352044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21945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~80%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0632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market growth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6850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doubled in one year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0" y="18745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1B5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1874520"/>
            <a:ext cx="352044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21945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55–60%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30632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demand from public-sector tenders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6850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Federal Laws 44-FZ &amp; 223-FZ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5262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is concentrated among companies with large critical infrastructure — state-owned corporations, banks, oil &amp; gas, transport, telecom operators and data-center operators.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349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Yadro / Vedomosti, Tenderplan, 3DNews (2025–26 reporting)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RUSSIAN IT INFRASTRUCTURE  |  MODERN SERVER &amp; STORAGE EQUIPMENT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Now: Policy Is Reshaping the Hardware Market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3258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law preference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73352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Laws 44-FZ and 223-FZ steer state and quasi-state buyers toward equipment from the Minpromtorg register of Russian-made products.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4688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Single-lot mixing phased out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816352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2026, government buyers could combine registry items and foreign-made products within a single tender lot; that flexibility has now tightened.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6118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volumes falling fast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959352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public sector, combined sales of Lenovo, IBM and Hitachi servers fell roughly 2.6x year-on-year in early 2025 comparisons.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7548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vendors scaling up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102352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Aquarius, Yadro, Depo and Aerodisk saw combined public-sector sales nearly double over the same period, reaching ₽7.26B.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60920" y="1371600"/>
            <a:ext cx="4297680" cy="4663440"/>
          </a:xfrm>
          <a:prstGeom prst="roundRect">
            <a:avLst>
              <a:gd name="adj" fmla="val 1702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8096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 For Buyers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2331720"/>
            <a:ext cx="3657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Registry-listed hardware reduces procurement and audit friction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sourcing shortens lead times versus imported gear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risk shifts from the buyer to a certified supplier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Ruble pricing removes currency and export-control exposure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RUSSIAN IT INFRASTRUCTURE  |  MODERN SERVER &amp; STORAGE EQUIPMENT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Modern Equipment Lineup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stack for enterprise data centers — compute, storage, network and power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1B5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 Servers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718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1U–2U multi-core platforms for virtualization and general workloads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1B5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606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 &amp; HCI Systems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9718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High-density compute for consolidated, software-defined data centers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1B5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3920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039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2606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Arrays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29718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All-flash &amp; hybrid SAN/NAS with NVMe tiers and snapshot replication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1B5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251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892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Switches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2578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10/25/100GbE top-of-rack and spine switching for scale-out fabrics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89120" y="3977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1B5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4251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6344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663440" y="4892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&amp; Cooling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663440" y="52578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 systems and precision cooling sized for full-rack deployments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29600" y="3977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1B5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03920" y="4251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0392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503920" y="4892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&amp; Micro Data Centers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503920" y="52578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Pre-integrated enclosures for branch and remote-site deployments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RUSSIAN IT INFRASTRUCTURE  |  MODERN SERVER &amp; STORAGE EQUIPMENT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Flagship Server: Technical Highlights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representative 2U dual-socket platform used across our Russian deployments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9494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84632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Dual-socket, up to 64 cores per socket; DDR5 memory, up to 4TB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24x NVMe/SAS bays; hardware RAID with battery-backed cache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 25GbE onboard; OCP 3.0 mezzanine for 100GbE uplinks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Redundant 1+1 hot-swap PSUs, Titanium efficiency rating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Out-of-band BMC with local-language console and remote KVM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 in the Minpromtorg register of Russian-made equipment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691640"/>
            <a:ext cx="3749040" cy="20116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138160" y="19202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99.98%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27432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platform availability with redundant power and storage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863840" y="3977640"/>
            <a:ext cx="3749040" cy="2011680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38160" y="42062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to 30%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49834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power draw per rack vs. legacy imported servers being replaced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080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specifications; final configuration confirmed per project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RUSSIAN IT INFRASTRUCTURE  |  MODERN SERVER &amp; STORAGE EQUIPMENT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Compliance, Not Just Performance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 keep procurement, legal and security teams comfortable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141B4D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94560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260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Minpromtorg Registry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7472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listed in the official register of Russian-made industrial products, unlocking preferential procurement treatment.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87452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141B4D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194560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9260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GOST R Certification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47472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certified to national GOST R standards for safety, EMC and quality before shipment.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87452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141B4D"/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2194560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0392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29260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152-FZ Alignment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347472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Configurations support on-shore data storage and processing to satisfy Russia's personal-data localization law.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RUSSIAN IT INFRASTRUCTURE  |  MODERN SERVER &amp; STORAGE EQUIPMENT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Equipment Is Deployed Today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Sectors with critical infrastructure are leading adoption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1B5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34540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03454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060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Finance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164592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1B5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875020" y="1874520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7502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6060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&amp; Gas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0" y="164592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1B5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715500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71550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26060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&amp; Public Sector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1B5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34540" y="3840480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03454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5720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Operators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389120" y="36118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1B5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75020" y="3840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87502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45720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Operators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229600" y="36118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AA1B5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715500" y="3840480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71550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27" name="Text 25"/>
          <p:cNvSpPr txBox="1"/>
          <p:nvPr/>
        </p:nvSpPr>
        <p:spPr>
          <a:xfrm>
            <a:off x="8412480" y="45720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&amp; Logistics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806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segments accounted for the majority of the 2025 public-sector procurement surge, per Tenderplan / Vedomosti analysis.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RUSSIAN IT INFRASTRUCTURE  |  MODERN SERVER &amp; STORAGE EQUIPMENT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Competitive Landscape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domestic vendors currently lead the Russian server market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4805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Focus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Customers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Yadro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Servers, storage, networking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Telecom, finance, state-owned enterprises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Aquarius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Servers, workstations, laptops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Government, education, enterprise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 Computers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Servers, storage systems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Corporate &amp; public-sector 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Kraftway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Servers, embedded systems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Government, defense-adjacent buyers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Fplus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Servers, electronics manufacturing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&amp; industrial clients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5321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positioning: certified equipment matched to your compliance profile, backed by nationwide service — without locking you into a single vendor's roadmap.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RUSSIAN IT INFRASTRUCTURE  |  MODERN SERVER &amp; STORAGE EQUIPMENT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That Matches the Hardware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presence removes the delays that come with imported equipment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916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Warehousing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5740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stock held inside Russia, avoiding customs delays on replacement parts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26480" y="1737360"/>
            <a:ext cx="502920" cy="50292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264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812280" y="16916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Nationwide Service Network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12280" y="205740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engineers reachable across federal districts, not just major cities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2461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SLA-Backed Warranty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61188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Response-time commitments from next-business-day to 4-hour critical support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3291840"/>
            <a:ext cx="502920" cy="50292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2648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32461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Spare Parts Inventory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361188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Ruble-priced components stocked locally, with no export-license exposure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5212080"/>
            <a:ext cx="295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562356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escalation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602480" y="5212080"/>
            <a:ext cx="295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₽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4602480" y="562356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Ruble invoicing, no FX risk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290560" y="5212080"/>
            <a:ext cx="295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85+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8290560" y="562356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with service coverage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RUSSIAN IT INFRASTRUCTURE  |  MODERN SERVER &amp; STORAGE EQUIPMENT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206240"/>
            <a:ext cx="3840480" cy="384048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1463040"/>
            <a:ext cx="3291840" cy="32918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0116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Plan Your Rollout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346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compliance review to installed racks — we scope, certify and support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equipment your project needs.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069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INQUIRIES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3616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sales@example-it.ru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846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CONSULTATION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1389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 (495) 000-00-00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623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OFFICE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9161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Moscow, Russian Federation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contact details — replace with your company's information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2026-09-16T08:45:02Z</dcterms:created>
  <dcterms:modified xsi:type="dcterms:W3CDTF">2026-09-16T08:45:02Z</dcterms:modified>
</cp:coreProperties>
</file>